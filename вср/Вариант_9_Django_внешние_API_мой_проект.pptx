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658368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ВНЕАУДИТОРНАЯ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7840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Работа с внешними API</a:t>
            </a:r>
          </a:p>
          <a:p>
            <a:pPr algn="l">
              <a:spcAft>
                <a:spcPts val="700"/>
              </a:spcAft>
              <a:defRPr sz="34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63240"/>
            <a:ext cx="81381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dirty="0" err="1">
                <a:solidFill>
                  <a:srgbClr val="000000"/>
                </a:solidFill>
                <a:latin typeface="Times New Roman"/>
              </a:rPr>
              <a:t>Получение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погоды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курсов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валют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внешних</a:t>
            </a:r>
            <a:r>
              <a:rPr dirty="0">
                <a:solidFill>
                  <a:srgbClr val="000000"/>
                </a:solidFill>
                <a:latin typeface="Times New Roman"/>
              </a:rPr>
              <a:t> API</a:t>
            </a:r>
          </a:p>
          <a:p>
            <a:r>
              <a:rPr dirty="0" err="1">
                <a:solidFill>
                  <a:srgbClr val="000000"/>
                </a:solidFill>
                <a:latin typeface="Times New Roman"/>
              </a:rPr>
              <a:t>на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примере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приложения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«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Гостиница</a:t>
            </a:r>
            <a:r>
              <a:rPr dirty="0">
                <a:solidFill>
                  <a:srgbClr val="000000"/>
                </a:solidFill>
                <a:latin typeface="Times New Roman"/>
              </a:rPr>
              <a:t>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828032"/>
            <a:ext cx="4480560" cy="105156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983480"/>
            <a:ext cx="4114800" cy="8689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Выполнил</a:t>
            </a:r>
            <a:r>
              <a:rPr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Сергей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Демин</a:t>
            </a:r>
            <a:endParaRPr dirty="0">
              <a:solidFill>
                <a:srgbClr val="000000"/>
              </a:solidFill>
              <a:latin typeface="Times New Roman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Группа</a:t>
            </a:r>
            <a:r>
              <a:rPr dirty="0">
                <a:solidFill>
                  <a:srgbClr val="000000"/>
                </a:solidFill>
                <a:latin typeface="Times New Roman"/>
              </a:rPr>
              <a:t>: АБД-41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Дата</a:t>
            </a:r>
            <a:r>
              <a:rPr dirty="0">
                <a:solidFill>
                  <a:srgbClr val="000000"/>
                </a:solidFill>
                <a:latin typeface="Times New Roman"/>
              </a:rPr>
              <a:t>: 2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dirty="0">
                <a:solidFill>
                  <a:srgbClr val="000000"/>
                </a:solidFill>
                <a:latin typeface="Times New Roman"/>
              </a:rPr>
              <a:t>.10.2026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496" y="4087368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ВАРИАНТ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Что такое внешнее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1828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72768"/>
            <a:ext cx="47823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API — посредник между программами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4782312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API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задаёт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правила</a:t>
            </a:r>
            <a:r>
              <a:rPr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которым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одно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приложение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запрашивает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или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действия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у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другого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1828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72768"/>
            <a:ext cx="49194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Зачем оно нужно?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4919472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Чтобы использовать готовые возможности: доставку, оплату, карты, погоду, уведомления и другие сервисы.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30752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Пример обмена данными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15968"/>
            <a:ext cx="2286000" cy="9601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82312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Наше приложение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315968"/>
            <a:ext cx="2286000" cy="9601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4443984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HTTP-запрос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782312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GET / POST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315968"/>
            <a:ext cx="2286000" cy="9601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443984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Внешний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82312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Внешний сервис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623560"/>
            <a:ext cx="74066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Django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отправляет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получает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ответ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использует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в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своём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интерфейсе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Как Django взаимодействует с внешним сервисом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6720840" cy="841248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69848" y="1362456"/>
            <a:ext cx="6336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1.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Подготовить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</a:t>
            </a:r>
            <a:endParaRPr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0704" y="1901952"/>
            <a:ext cx="633679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Указать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адрес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API,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метод</a:t>
            </a:r>
            <a:r>
              <a:rPr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нужные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параметры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581" y="2651760"/>
            <a:ext cx="6720840" cy="841248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688336"/>
            <a:ext cx="6336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2.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Отправить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</a:t>
            </a:r>
            <a:endParaRPr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2605" y="3082290"/>
            <a:ext cx="633679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dirty="0" err="1">
                <a:solidFill>
                  <a:srgbClr val="000000"/>
                </a:solidFill>
                <a:latin typeface="Times New Roman"/>
              </a:rPr>
              <a:t>Например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Times New Roman"/>
              </a:rPr>
              <a:t>передать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</a:rPr>
              <a:t>внешнего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 API и </a:t>
            </a:r>
            <a:r>
              <a:rPr sz="1400" dirty="0" err="1">
                <a:solidFill>
                  <a:srgbClr val="000000"/>
                </a:solidFill>
                <a:latin typeface="Times New Roman"/>
              </a:rPr>
              <a:t>вес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Times New Roman"/>
              </a:rPr>
              <a:t>заказа</a:t>
            </a:r>
            <a:r>
              <a:rPr sz="14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581" y="3757422"/>
            <a:ext cx="6720840" cy="841248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803904"/>
            <a:ext cx="6336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3.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Получить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ответ</a:t>
            </a:r>
            <a:endParaRPr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" y="4270248"/>
            <a:ext cx="633679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Сервис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обычно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возвращает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статус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HTTP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часто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в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4909566"/>
            <a:ext cx="6720840" cy="841248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4919472"/>
            <a:ext cx="633679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4.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Проверить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результат</a:t>
            </a:r>
            <a:endParaRPr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" y="5385816"/>
            <a:ext cx="633679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Убедиться, что запрос успешен, а ответ содержит ожидаемые данные.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828800"/>
            <a:ext cx="3154680" cy="32004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057400"/>
            <a:ext cx="27432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Важно помнить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2697480" cy="2011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Внешний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сервис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может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быть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медленным</a:t>
            </a:r>
            <a:r>
              <a:rPr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временно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недоступным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или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вернуть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ошибку</a:t>
            </a:r>
            <a:r>
              <a:rPr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Поэтому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нужно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ограничивать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времени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проверять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HTTP-запросы и формат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526921"/>
            <a:ext cx="3474720" cy="14173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96771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Получить информацию.</a:t>
            </a:r>
          </a:p>
          <a:p>
            <a:r>
              <a:rPr>
                <a:solidFill>
                  <a:srgbClr val="000000"/>
                </a:solidFill>
                <a:latin typeface="Times New Roman"/>
              </a:rPr>
              <a:t>Например, узнать курсы валют.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510538"/>
            <a:ext cx="3474720" cy="14173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09067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Передать данные.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Например, создать заявку на доставку.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36192"/>
            <a:ext cx="3429000" cy="141732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66176" y="1572768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039112"/>
            <a:ext cx="304495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Популярный формат обмена данными: объекты, списки, строки и числа.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41980"/>
            <a:ext cx="4983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Пример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данных</a:t>
            </a:r>
            <a:r>
              <a:rPr dirty="0">
                <a:solidFill>
                  <a:srgbClr val="000000"/>
                </a:solidFill>
                <a:latin typeface="Times New Roman"/>
              </a:rPr>
              <a:t>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529330"/>
            <a:ext cx="4983480" cy="1920240"/>
          </a:xfrm>
          <a:prstGeom prst="roundRect">
            <a:avLst/>
          </a:prstGeom>
          <a:solidFill>
            <a:srgbClr val="F6FAFC"/>
          </a:solidFill>
          <a:ln>
            <a:solidFill>
              <a:srgbClr val="AA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776472"/>
            <a:ext cx="4654296" cy="171907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{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"order_id": 125,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"city": "Абакан",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"weight_kg": 2.5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67328"/>
            <a:ext cx="493776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Такое сообщение может описывать заказ, для которого нужно рассчитать доставку. Реальный формат определяется документацией конкретного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440680"/>
            <a:ext cx="4754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GET и POST —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методы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HTTP, а JSON —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формат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данных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Библиотека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48463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requests — популярная библиотека Python для выполнения HTTP-запросов. Её удобно применять в обычном синхронном коде Django.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5669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Пример GET-запроса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86202"/>
            <a:ext cx="5669280" cy="2514600"/>
          </a:xfrm>
          <a:prstGeom prst="roundRect">
            <a:avLst/>
          </a:prstGeom>
          <a:solidFill>
            <a:srgbClr val="F6FAFC"/>
          </a:solidFill>
          <a:ln>
            <a:solidFill>
              <a:srgbClr val="AA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36320" y="3008376"/>
            <a:ext cx="5340096" cy="23134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import requests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endParaRPr>
              <a:solidFill>
                <a:srgbClr val="000000"/>
              </a:solidFill>
              <a:latin typeface="Times New Roman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response = requests.get(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"https://api.example.com/delivery",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timeout=5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response.raise_for_status()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data = response.json()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0876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4888" y="1664207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timeout=5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130552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Не ждать ответ бесконечно: через 5 секунд запрос завершится ошибкой тайм-аута.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88036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3035808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raise_for_status()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502152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Вызывает исключение при HTTP-ошибках, например 404 или 500.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25196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4407408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response.json()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4873752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Преобразует JSON-ответ в структуры Python, например словарь.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Библиотека httpx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httpx поддерживает и обычные, и асинхронные запросы. Это удобно, когда приложение должно ждать ответы от внешних сервисов, не блокируя выполнение асинхронного обработчика.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5577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Асинхронный пример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577840" cy="2560320"/>
          </a:xfrm>
          <a:prstGeom prst="roundRect">
            <a:avLst/>
          </a:prstGeom>
          <a:solidFill>
            <a:srgbClr val="F6FAFC"/>
          </a:solidFill>
          <a:ln>
            <a:solidFill>
              <a:srgbClr val="AA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62072"/>
            <a:ext cx="5248655" cy="235915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import httpx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endParaRPr>
              <a:solidFill>
                <a:srgbClr val="000000"/>
              </a:solidFill>
              <a:latin typeface="Times New Roman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async def get_delivery():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async with httpx.AsyncClient() as client: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response = await client.get(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    "https://api.example.com/delivery",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    timeout=5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response.raise_for_status()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        return response.json()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5448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4888" y="1709928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async def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176272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Объявляет асинхронную функцию.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88036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3035808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502152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Позволяет дождаться результата асинхронной операции.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206240"/>
            <a:ext cx="4251960" cy="11430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4361688"/>
            <a:ext cx="38679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AsyncClient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4828031"/>
            <a:ext cx="38679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Клиент для выполнения асинхронных HTTP-запросов.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Синхронные и асинхронные запросы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874519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18488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Синхронный подход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28032" cy="1124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Функция ждёт завершения запроса прежде, чем продолжить работу. Проще читать и подходит для многих обычных задач.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874519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18488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Асинхронный подход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84832"/>
            <a:ext cx="4828032" cy="1124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Во время ожидания сетевого ответа приложение может выполнять другие асинхронные операции. Требует правильной async-архитектуры.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>
                <a:solidFill>
                  <a:srgbClr val="000000"/>
                </a:solidFill>
                <a:latin typeface="Times New Roman"/>
              </a:rPr>
              <a:t>Пример: одновременно запросить курсы валют у нескольких перевозчиков.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Синхронно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526280"/>
            <a:ext cx="2103120" cy="502920"/>
          </a:xfrm>
          <a:prstGeom prst="roundRect">
            <a:avLst/>
          </a:prstGeom>
          <a:solidFill>
            <a:srgbClr val="CD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4617720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Запрос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526280"/>
            <a:ext cx="2103120" cy="502920"/>
          </a:xfrm>
          <a:prstGeom prst="roundRect">
            <a:avLst/>
          </a:prstGeom>
          <a:solidFill>
            <a:srgbClr val="CD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617720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Запрос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526280"/>
            <a:ext cx="2103120" cy="502920"/>
          </a:xfrm>
          <a:prstGeom prst="roundRect">
            <a:avLst/>
          </a:prstGeom>
          <a:solidFill>
            <a:srgbClr val="CD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617720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Запрос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Асинхронно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5230368"/>
            <a:ext cx="1051560" cy="502920"/>
          </a:xfrm>
          <a:prstGeom prst="roundRect">
            <a:avLst/>
          </a:prstGeom>
          <a:solidFill>
            <a:srgbClr val="BF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5321808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230368"/>
            <a:ext cx="1051560" cy="502920"/>
          </a:xfrm>
          <a:prstGeom prst="roundRect">
            <a:avLst/>
          </a:prstGeom>
          <a:solidFill>
            <a:srgbClr val="BF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5321808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230368"/>
            <a:ext cx="1051560" cy="502920"/>
          </a:xfrm>
          <a:prstGeom prst="roundRect">
            <a:avLst/>
          </a:prstGeom>
          <a:solidFill>
            <a:srgbClr val="BF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5321808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Обработка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Сбой внешнего сервиса не должен приводить к необработанной ошибке на всём сайте. Нужно перехватывать ожидаемые исключения и выбирать понятный сценарий для пользователя.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5806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Пример обработки ошибок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5806440" cy="2971800"/>
          </a:xfrm>
          <a:prstGeom prst="roundRect">
            <a:avLst/>
          </a:prstGeom>
          <a:solidFill>
            <a:srgbClr val="F6FAFC"/>
          </a:solidFill>
          <a:ln>
            <a:solidFill>
              <a:srgbClr val="AA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42032"/>
            <a:ext cx="5477255" cy="27706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import requests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endParaRPr dirty="0">
              <a:solidFill>
                <a:srgbClr val="000000"/>
              </a:solidFill>
              <a:latin typeface="Times New Roman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try: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response =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requests.get</a:t>
            </a:r>
            <a:r>
              <a:rPr dirty="0">
                <a:solidFill>
                  <a:srgbClr val="000000"/>
                </a:solidFill>
                <a:latin typeface="Times New Roman"/>
              </a:rPr>
              <a:t>(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"https://api.example.com/delivery",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timeout=5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response.raise_for_status</a:t>
            </a:r>
            <a:r>
              <a:rPr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data =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response.json</a:t>
            </a:r>
            <a:r>
              <a:rPr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except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requests.Timeout</a:t>
            </a:r>
            <a:r>
              <a:rPr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data = None  #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сервис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ответил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вовремя</a:t>
            </a:r>
            <a:endParaRPr dirty="0">
              <a:solidFill>
                <a:srgbClr val="000000"/>
              </a:solidFill>
              <a:latin typeface="Times New Roman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except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requests.RequestException</a:t>
            </a:r>
            <a:r>
              <a:rPr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data = None  #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другая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ошибка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запроса</a:t>
            </a:r>
            <a:endParaRPr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40880" y="2423160"/>
            <a:ext cx="4114800" cy="100584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2048" y="2578608"/>
            <a:ext cx="37307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Тайм-аут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3044952"/>
            <a:ext cx="37307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Сервис не ответил за заданное время.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813048"/>
            <a:ext cx="4114800" cy="100584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8" y="3813048"/>
            <a:ext cx="37307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HTTP 4xx / 5xx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279392"/>
            <a:ext cx="37307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Запрос некорректен или на стороне сервера возникла ошибка.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5010912"/>
            <a:ext cx="4114800" cy="100584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242048" y="5047488"/>
            <a:ext cx="37307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Некорректный ответ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5513831"/>
            <a:ext cx="373075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JSON может отсутствовать или иметь неожиданный формат.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Повторные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Если ошибка временная, можно повторить запрос несколько раз с паузой. Это повышает устойчивость интеграции, но бесконечные повторы создают лишнюю нагрузку.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5715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Простой учебный пример retry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715000" cy="4142232"/>
          </a:xfrm>
          <a:prstGeom prst="roundRect">
            <a:avLst/>
          </a:prstGeom>
          <a:solidFill>
            <a:srgbClr val="F6FAFC"/>
          </a:solidFill>
          <a:ln>
            <a:solidFill>
              <a:srgbClr val="AA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2040" y="2487169"/>
            <a:ext cx="5385816" cy="304495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import time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import requests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endParaRPr dirty="0">
              <a:solidFill>
                <a:srgbClr val="000000"/>
              </a:solidFill>
              <a:latin typeface="Times New Roman"/>
            </a:endParaRP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for attempt in range(3):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try: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response =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requests.get</a:t>
            </a:r>
            <a:r>
              <a:rPr dirty="0">
                <a:solidFill>
                  <a:srgbClr val="000000"/>
                </a:solidFill>
                <a:latin typeface="Times New Roman"/>
              </a:rPr>
              <a:t>(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    "https://api.example.com/delivery",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    timeout=5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response.raise_for_status</a:t>
            </a:r>
            <a:r>
              <a:rPr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data =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response.json</a:t>
            </a:r>
            <a:r>
              <a:rPr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break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except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requests.RequestException</a:t>
            </a:r>
            <a:r>
              <a:rPr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if attempt == 2: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    data = None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           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time.sleep</a:t>
            </a:r>
            <a:r>
              <a:rPr dirty="0">
                <a:solidFill>
                  <a:srgbClr val="000000"/>
                </a:solidFill>
                <a:latin typeface="Times New Roman"/>
              </a:rPr>
              <a:t>(1)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423160"/>
            <a:ext cx="4206240" cy="105156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4888" y="2578608"/>
            <a:ext cx="38221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Ограничивать попытки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3044952"/>
            <a:ext cx="3822191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Например, не более трёх обращений.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822191"/>
            <a:ext cx="4206240" cy="105156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3904487"/>
            <a:ext cx="38221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Добавлять паузу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4370831"/>
            <a:ext cx="3822191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При необходимости увеличивать её между попытками.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5148071"/>
            <a:ext cx="4206240" cy="105156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5230368"/>
            <a:ext cx="38221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Учитывать тип операции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5696712"/>
            <a:ext cx="3822191" cy="301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Повтор POST может создать дубликат, если API не поддерживает идемпотентность.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Практический пример: приложение «Гостиница»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672" y="1005840"/>
            <a:ext cx="51206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900" b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 проекте уже используются два внешних API: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768" y="1600201"/>
            <a:ext cx="5303520" cy="914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1.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Погода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в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Абакане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—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</a:t>
            </a:r>
            <a:r>
              <a:rPr dirty="0">
                <a:solidFill>
                  <a:srgbClr val="000000"/>
                </a:solidFill>
                <a:latin typeface="Times New Roman"/>
              </a:rPr>
              <a:t> к wttr.in.</a:t>
            </a:r>
          </a:p>
          <a:p>
            <a:pPr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2.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Курсы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USD и EUR —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с cbr-xml-daily.ru.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8768" y="2584746"/>
            <a:ext cx="5166360" cy="10972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Django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получает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JSON,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выбирает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нужные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поля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передаёт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значения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в HTML-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шаблон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через</a:t>
            </a:r>
            <a:r>
              <a:rPr dirty="0">
                <a:solidFill>
                  <a:srgbClr val="000000"/>
                </a:solidFill>
                <a:latin typeface="Times New Roman"/>
              </a:rPr>
              <a:t> render().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18875"/>
            <a:ext cx="5166360" cy="9601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Страница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статистики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номеров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отдельно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показывает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записи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модели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Room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из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базы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данных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99556"/>
            <a:ext cx="5166360" cy="6858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На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иллюстрации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—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три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страницы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одного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приложения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031" y="5316045"/>
            <a:ext cx="5394960" cy="914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Важно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статистика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номеров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работает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с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базой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данных</a:t>
            </a:r>
            <a:r>
              <a:rPr dirty="0">
                <a:solidFill>
                  <a:srgbClr val="000000"/>
                </a:solidFill>
                <a:latin typeface="Times New Roman"/>
              </a:rPr>
              <a:t>, а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погода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курсы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валют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загружаются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из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внешних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источников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ADB8CD-79DB-4A7C-947E-4AE900A9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312" y="826132"/>
            <a:ext cx="7120212" cy="35172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Реализация во views.py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539496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Запрос погоды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6400800" cy="4480560"/>
          </a:xfrm>
          <a:prstGeom prst="rect">
            <a:avLst/>
          </a:prstGeom>
          <a:solidFill>
            <a:srgbClr val="F5F7F9"/>
          </a:solidFill>
          <a:ln>
            <a:solidFill>
              <a:srgbClr val="BEC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6126480" cy="4343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def weather_view(request):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try: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response = urlopen(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    'https://wttr.in/Abakan?format=j1'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)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data = json.loads(response.read())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temp = data['current_condition'][0]['temp_C']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desc = data['current_condition'][0]['weatherDesc'][0]['value']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error = None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except Exception: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temp, desc = None, None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error = "Не удалось загрузить данные о погоде"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endParaRPr sz="1100">
              <a:solidFill>
                <a:srgbClr val="000000"/>
              </a:solidFill>
              <a:latin typeface="Times New Roman"/>
            </a:endParaRP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return render(request, 'weather.html', {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    'temp': temp, 'desc': desc, 'error': error</a:t>
            </a:r>
          </a:p>
          <a:p>
            <a:pPr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rPr sz="1100">
                <a:solidFill>
                  <a:srgbClr val="000000"/>
                </a:solidFill>
                <a:latin typeface="Times New Roman"/>
              </a:rPr>
              <a:t>   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868680"/>
            <a:ext cx="4206240" cy="4114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Что делает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417320"/>
            <a:ext cx="4069080" cy="11430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1. Отправляет запрос к wttr.in.</a:t>
            </a:r>
          </a:p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2. Разбирает ответ JSON.</a:t>
            </a:r>
          </a:p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3. Берёт температуру и описание.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880360"/>
            <a:ext cx="4069080" cy="11430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4.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При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ошибке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сохраняет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сообщение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для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шаблона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5.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Передаёт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в weather.html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через</a:t>
            </a:r>
            <a:r>
              <a:rPr dirty="0">
                <a:solidFill>
                  <a:srgbClr val="000000"/>
                </a:solidFill>
                <a:latin typeface="Times New Roman"/>
              </a:rPr>
              <a:t> render().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72000"/>
            <a:ext cx="4069080" cy="914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rPr dirty="0" err="1">
                <a:solidFill>
                  <a:srgbClr val="000000"/>
                </a:solidFill>
                <a:latin typeface="Times New Roman"/>
              </a:rPr>
              <a:t>Аналогично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работает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currency_view</a:t>
            </a:r>
            <a:r>
              <a:rPr dirty="0">
                <a:solidFill>
                  <a:srgbClr val="000000"/>
                </a:solidFill>
                <a:latin typeface="Times New Roman"/>
              </a:rPr>
              <a:t>():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она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получает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курсы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USD и EUR с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сайта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cbr-xml-daily.ru.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Преимущества, ограничения и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72768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Преимущества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2803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Можно подключать готовые сервисы без разработки с нуля.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Данные между системами передаются автоматически.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requests и httpx упрощают HTTP-взаимодействие.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192024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72768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482803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Внешний API может быть недоступен.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Возможны задержки, лимиты и платный доступ.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• Нужно защищать ключи и проверять ответы.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86200"/>
            <a:ext cx="10424160" cy="150876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1480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Главный вывод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90288"/>
            <a:ext cx="9829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Интеграция с внешним API расширяет возможности Django-приложения. Надёжная реализация включает тайм-ауты, обработку ошибок, ограниченные повторы и безопасное хранение секретов.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dirty="0" err="1">
                <a:solidFill>
                  <a:srgbClr val="000000"/>
                </a:solidFill>
                <a:latin typeface="Times New Roman"/>
              </a:rPr>
              <a:t>Внешний</a:t>
            </a:r>
            <a:r>
              <a:rPr dirty="0">
                <a:solidFill>
                  <a:srgbClr val="000000"/>
                </a:solidFill>
                <a:latin typeface="Times New Roman"/>
              </a:rPr>
              <a:t> API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позволяет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добавить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актуальные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данные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без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самостоятельного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создания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сервиса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погоды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или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расчёта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курсов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валют</a:t>
            </a:r>
            <a:r>
              <a:rPr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Вопросы для аудитории и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394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Вопросы для защиты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1. Для чего нужно внешнее API?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48255"/>
            <a:ext cx="5257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Для обмена данными и использования функций другого сервиса.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2. Зачем задавать timeout?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71215"/>
            <a:ext cx="5257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Чтобы запрос не ожидал ответ бесконечно.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79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3. Чем requests отличается от httpx?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94176"/>
            <a:ext cx="5257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requests обычно используют синхронно; httpx поддерживает и синхронные, и асинхронные запросы.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000000"/>
                </a:solidFill>
                <a:latin typeface="Times New Roman"/>
              </a:rPr>
              <a:t>4.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Почему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нельзя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бесконечно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повторять</a:t>
            </a:r>
            <a:r>
              <a:rPr dirty="0">
                <a:solidFill>
                  <a:srgbClr val="000000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/>
              </a:rPr>
              <a:t>запрос</a:t>
            </a:r>
            <a:r>
              <a:rPr dirty="0">
                <a:solidFill>
                  <a:srgbClr val="000000"/>
                </a:solidFill>
                <a:latin typeface="Times New Roman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17136"/>
            <a:ext cx="5257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Это создаёт нагрузку и может повторно выполнить операцию.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5. Обсуждение: нужно ли показывать пользователю цену доставки, если сервис временно недоступен?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Источники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4983480" cy="685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1938528"/>
            <a:ext cx="4572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1. Django documentation — https://docs.djangoproject.com/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697480"/>
            <a:ext cx="4983480" cy="685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807208"/>
            <a:ext cx="4572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2. Requests documentation — https://requests.readthedocs.io/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4983480" cy="685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675888"/>
            <a:ext cx="4572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3. HTTPX documentation — https://www.python-httpx.org/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434840"/>
            <a:ext cx="4983480" cy="685800"/>
          </a:xfrm>
          <a:prstGeom prst="roundRect">
            <a:avLst/>
          </a:prstGeom>
          <a:solidFill>
            <a:srgbClr val="ED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544568"/>
            <a:ext cx="4572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000000"/>
                </a:solidFill>
                <a:latin typeface="Times New Roman"/>
              </a:rPr>
              <a:t>4. Python documentation — https://docs.python.org/3/library/asyncio.html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1401</Words>
  <Application>Microsoft Office PowerPoint</Application>
  <PresentationFormat>Широкоэкранный</PresentationFormat>
  <Paragraphs>219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внешними API в Django</dc:title>
  <dc:subject>Внеаудиторная работа по Django</dc:subject>
  <dc:creator>Сергей Демин</dc:creator>
  <cp:keywords>Django, API, requests, httpx, интеграция</cp:keywords>
  <dc:description>generated using python-pptx</dc:description>
  <cp:lastModifiedBy>SERGEY DEMIN</cp:lastModifiedBy>
  <cp:revision>9</cp:revision>
  <dcterms:created xsi:type="dcterms:W3CDTF">2013-01-27T09:14:16Z</dcterms:created>
  <dcterms:modified xsi:type="dcterms:W3CDTF">2026-10-28T17:58:32Z</dcterms:modified>
  <cp:category/>
</cp:coreProperties>
</file>